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Catamaran"/>
      <p:regular r:id="rId15"/>
      <p:bold r:id="rId16"/>
    </p:embeddedFont>
    <p:embeddedFont>
      <p:font typeface="Raleway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h2qVdn357Uu/RmUi5/ViH5C6QW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atamaran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font" Target="fonts/Catamaran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italic.fntdata"/><Relationship Id="rId6" Type="http://schemas.openxmlformats.org/officeDocument/2006/relationships/slide" Target="slides/slide1.xml"/><Relationship Id="rId18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Catamaran"/>
              <a:buNone/>
              <a:defRPr sz="420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tamaran"/>
              <a:buNone/>
              <a:defRPr sz="1600">
                <a:latin typeface="Catamaran"/>
                <a:ea typeface="Catamaran"/>
                <a:cs typeface="Catamaran"/>
                <a:sym typeface="Catamar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" name="Google Shape;13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4" name="Google Shape;14;p11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6259425" y="2453225"/>
            <a:ext cx="2884575" cy="26901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1"/>
          <p:cNvSpPr/>
          <p:nvPr/>
        </p:nvSpPr>
        <p:spPr>
          <a:xfrm>
            <a:off x="830400" y="1170063"/>
            <a:ext cx="548700" cy="882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1"/>
          <p:cNvSpPr/>
          <p:nvPr/>
        </p:nvSpPr>
        <p:spPr>
          <a:xfrm>
            <a:off x="1379100" y="1170063"/>
            <a:ext cx="548700" cy="882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2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12"/>
          <p:cNvSpPr txBox="1"/>
          <p:nvPr>
            <p:ph idx="1" type="body"/>
          </p:nvPr>
        </p:nvSpPr>
        <p:spPr>
          <a:xfrm>
            <a:off x="727650" y="162202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2" name="Google Shape;22;p12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12"/>
          <p:cNvPicPr preferRelativeResize="0"/>
          <p:nvPr/>
        </p:nvPicPr>
        <p:blipFill rotWithShape="1">
          <a:blip r:embed="rId2">
            <a:alphaModFix/>
          </a:blip>
          <a:srcRect b="16522" l="7087" r="9620" t="14912"/>
          <a:stretch/>
        </p:blipFill>
        <p:spPr>
          <a:xfrm>
            <a:off x="99550" y="4626400"/>
            <a:ext cx="505675" cy="4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2"/>
          <p:cNvSpPr/>
          <p:nvPr/>
        </p:nvSpPr>
        <p:spPr>
          <a:xfrm flipH="1" rot="10800000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2"/>
          <p:cNvSpPr/>
          <p:nvPr/>
        </p:nvSpPr>
        <p:spPr>
          <a:xfrm flipH="1" rot="10800000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2"/>
          <p:cNvSpPr txBox="1"/>
          <p:nvPr>
            <p:ph idx="2" type="subTitle"/>
          </p:nvPr>
        </p:nvSpPr>
        <p:spPr>
          <a:xfrm>
            <a:off x="1414800" y="4779100"/>
            <a:ext cx="5854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3"/>
          <p:cNvSpPr txBox="1"/>
          <p:nvPr>
            <p:ph type="title"/>
          </p:nvPr>
        </p:nvSpPr>
        <p:spPr>
          <a:xfrm>
            <a:off x="770150" y="831575"/>
            <a:ext cx="33009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" type="subTitle"/>
          </p:nvPr>
        </p:nvSpPr>
        <p:spPr>
          <a:xfrm>
            <a:off x="770150" y="2192250"/>
            <a:ext cx="3300900" cy="24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1" name="Google Shape;31;p13"/>
          <p:cNvSpPr txBox="1"/>
          <p:nvPr>
            <p:ph idx="2" type="body"/>
          </p:nvPr>
        </p:nvSpPr>
        <p:spPr>
          <a:xfrm>
            <a:off x="5161900" y="83157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3" name="Google Shape;33;p13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" name="Google Shape;34;p13"/>
          <p:cNvPicPr preferRelativeResize="0"/>
          <p:nvPr/>
        </p:nvPicPr>
        <p:blipFill rotWithShape="1">
          <a:blip r:embed="rId2">
            <a:alphaModFix/>
          </a:blip>
          <a:srcRect b="17784" l="0" r="0" t="13651"/>
          <a:stretch/>
        </p:blipFill>
        <p:spPr>
          <a:xfrm>
            <a:off x="0" y="4597050"/>
            <a:ext cx="607175" cy="4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3"/>
          <p:cNvSpPr/>
          <p:nvPr/>
        </p:nvSpPr>
        <p:spPr>
          <a:xfrm flipH="1" rot="10800000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3"/>
          <p:cNvSpPr/>
          <p:nvPr/>
        </p:nvSpPr>
        <p:spPr>
          <a:xfrm flipH="1" rot="10800000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3"/>
          <p:cNvSpPr txBox="1"/>
          <p:nvPr>
            <p:ph idx="3" type="subTitle"/>
          </p:nvPr>
        </p:nvSpPr>
        <p:spPr>
          <a:xfrm>
            <a:off x="1414800" y="4779100"/>
            <a:ext cx="5854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13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39;p13"/>
          <p:cNvPicPr preferRelativeResize="0"/>
          <p:nvPr/>
        </p:nvPicPr>
        <p:blipFill rotWithShape="1">
          <a:blip r:embed="rId2">
            <a:alphaModFix/>
          </a:blip>
          <a:srcRect b="16522" l="7087" r="9620" t="14912"/>
          <a:stretch/>
        </p:blipFill>
        <p:spPr>
          <a:xfrm>
            <a:off x="99550" y="4626400"/>
            <a:ext cx="505675" cy="4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ITLE_1">
    <p:bg>
      <p:bgPr>
        <a:solidFill>
          <a:schemeClr val="lt2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3" name="Google Shape;43;p14"/>
          <p:cNvSpPr txBox="1"/>
          <p:nvPr/>
        </p:nvSpPr>
        <p:spPr>
          <a:xfrm>
            <a:off x="347725" y="198330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4" name="Google Shape;44;p14"/>
          <p:cNvSpPr txBox="1"/>
          <p:nvPr/>
        </p:nvSpPr>
        <p:spPr>
          <a:xfrm>
            <a:off x="347725" y="2937794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5" name="Google Shape;45;p14"/>
          <p:cNvSpPr txBox="1"/>
          <p:nvPr/>
        </p:nvSpPr>
        <p:spPr>
          <a:xfrm>
            <a:off x="4167025" y="198330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6" name="Google Shape;46;p14"/>
          <p:cNvSpPr txBox="1"/>
          <p:nvPr/>
        </p:nvSpPr>
        <p:spPr>
          <a:xfrm>
            <a:off x="4167025" y="2937794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7" name="Google Shape;47;p14"/>
          <p:cNvSpPr/>
          <p:nvPr/>
        </p:nvSpPr>
        <p:spPr>
          <a:xfrm>
            <a:off x="1414300" y="1983327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8" name="Google Shape;48;p14"/>
          <p:cNvSpPr/>
          <p:nvPr/>
        </p:nvSpPr>
        <p:spPr>
          <a:xfrm>
            <a:off x="1414300" y="2937820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9" name="Google Shape;49;p14"/>
          <p:cNvSpPr/>
          <p:nvPr/>
        </p:nvSpPr>
        <p:spPr>
          <a:xfrm>
            <a:off x="5233600" y="1983327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0" name="Google Shape;50;p14"/>
          <p:cNvSpPr/>
          <p:nvPr/>
        </p:nvSpPr>
        <p:spPr>
          <a:xfrm>
            <a:off x="5233600" y="2937820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1" name="Google Shape;51;p14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2" name="Google Shape;52;p14"/>
          <p:cNvSpPr/>
          <p:nvPr/>
        </p:nvSpPr>
        <p:spPr>
          <a:xfrm flipH="1" rot="10800000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4"/>
          <p:cNvSpPr/>
          <p:nvPr/>
        </p:nvSpPr>
        <p:spPr>
          <a:xfrm flipH="1" rot="10800000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7922487" y="2407925"/>
            <a:ext cx="1776325" cy="165662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 txBox="1"/>
          <p:nvPr/>
        </p:nvSpPr>
        <p:spPr>
          <a:xfrm>
            <a:off x="347725" y="387525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4167025" y="387525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1414300" y="3875277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5233600" y="3875277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tamaran"/>
              <a:buNone/>
              <a:defRPr b="1" i="0" sz="28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tamaran"/>
              <a:buChar char="●"/>
              <a:defRPr b="0" i="0" sz="13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○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■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●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○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■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●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○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Catamaran"/>
              <a:buChar char="■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pietro-nardelli/sapienza-ppt-templat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 sz="3200"/>
              <a:t>Retrieval-Augmented Garment Generation with Diffusion Models</a:t>
            </a:r>
            <a:endParaRPr sz="3200"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729625" y="3172900"/>
            <a:ext cx="76881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it"/>
              <a:t>Author</a:t>
            </a:r>
            <a:r>
              <a:rPr lang="it"/>
              <a:t>: Claudia Cornacchia - 1986434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it"/>
              <a:t>Course</a:t>
            </a:r>
            <a:r>
              <a:rPr lang="it"/>
              <a:t>: Neural Networks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it"/>
              <a:t>Sapienza University of Rome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it"/>
              <a:t>Motivation &amp; Objectives</a:t>
            </a:r>
            <a:endParaRPr/>
          </a:p>
        </p:txBody>
      </p:sp>
      <p:sp>
        <p:nvSpPr>
          <p:cNvPr id="70" name="Google Shape;70;p2"/>
          <p:cNvSpPr txBox="1"/>
          <p:nvPr>
            <p:ph idx="1" type="body"/>
          </p:nvPr>
        </p:nvSpPr>
        <p:spPr>
          <a:xfrm>
            <a:off x="727650" y="1811575"/>
            <a:ext cx="3844500" cy="27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it" sz="1200"/>
              <a:t>The problem</a:t>
            </a:r>
            <a:r>
              <a:rPr lang="it" sz="1200"/>
              <a:t>: Standard diffusion models fail to synthesize  standard flat-lay garments from in-the-wild diverse images.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“Structural Hallucinations”: artifacts such as incorrect patterns or shapes, distorted necklines produced by the model in the generation.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b="1" lang="it" sz="1200"/>
              <a:t>The solution:</a:t>
            </a:r>
            <a:r>
              <a:rPr lang="it" sz="1200"/>
              <a:t> Retrieval Augmented Generation (RAG), augment the model by retrieving a reliable structural guidance from an external database to reduce hallucinations and improve structural accuracy.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72" name="Google Shape;7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3750" y="861800"/>
            <a:ext cx="4076906" cy="15123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2"/>
          <p:cNvSpPr/>
          <p:nvPr/>
        </p:nvSpPr>
        <p:spPr>
          <a:xfrm>
            <a:off x="5408800" y="2913375"/>
            <a:ext cx="3127500" cy="151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it" sz="13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Project Goal</a:t>
            </a:r>
            <a:r>
              <a:rPr b="0" i="0" lang="it" sz="13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: investigate the RAG mechanism by replicating the framework proposed in </a:t>
            </a:r>
            <a:r>
              <a:rPr b="0" i="1" lang="it" sz="13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RAGDiffusion </a:t>
            </a:r>
            <a:r>
              <a:rPr b="0" i="0" lang="it" sz="13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[1] and adapting it to settings with limited computational resources</a:t>
            </a:r>
            <a:endParaRPr b="0" i="0" sz="1300" u="none" cap="none" strike="noStrike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/>
          <p:nvPr>
            <p:ph type="title"/>
          </p:nvPr>
        </p:nvSpPr>
        <p:spPr>
          <a:xfrm>
            <a:off x="334225" y="951100"/>
            <a:ext cx="27222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it"/>
              <a:t>Methodology: The RAG Pipeline</a:t>
            </a:r>
            <a:endParaRPr/>
          </a:p>
        </p:txBody>
      </p:sp>
      <p:sp>
        <p:nvSpPr>
          <p:cNvPr id="79" name="Google Shape;79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80" name="Google Shape;80;p3"/>
          <p:cNvSpPr txBox="1"/>
          <p:nvPr>
            <p:ph idx="1" type="body"/>
          </p:nvPr>
        </p:nvSpPr>
        <p:spPr>
          <a:xfrm>
            <a:off x="720900" y="2720012"/>
            <a:ext cx="8045100" cy="21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it" sz="1200"/>
              <a:t>The garment generation is conditioned on 4 inputs: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it" sz="1200"/>
              <a:t>Structure Embeddings</a:t>
            </a:r>
            <a:r>
              <a:rPr lang="it" sz="1200"/>
              <a:t>: 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it" sz="1200"/>
              <a:t>Computed by StructureNet from the fusion of visual CLIP features + LLM attributes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it" sz="1200"/>
              <a:t>Refined via SLLE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it" sz="1200"/>
              <a:t>Garment silhouette</a:t>
            </a:r>
            <a:r>
              <a:rPr lang="it" sz="1200"/>
              <a:t>: retrieved from the Retrieval Database, acting as an hard constraint on the final garment shape.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it" sz="1200"/>
              <a:t>Prompt</a:t>
            </a:r>
            <a:r>
              <a:rPr lang="it" sz="1200"/>
              <a:t>:  generated by a  LLM, provides explicit semantic context such as color, pattern, and fabric type.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it" sz="1200"/>
              <a:t>Reference Latents</a:t>
            </a:r>
            <a:r>
              <a:rPr lang="it" sz="1200"/>
              <a:t>: the clean latent of the original in-the-wild image produced with the SDXL VAE, serving as the source of high-frequency details. </a:t>
            </a:r>
            <a:endParaRPr sz="1200"/>
          </a:p>
        </p:txBody>
      </p:sp>
      <p:pic>
        <p:nvPicPr>
          <p:cNvPr id="81" name="Google Shape;81;p3"/>
          <p:cNvPicPr preferRelativeResize="0"/>
          <p:nvPr/>
        </p:nvPicPr>
        <p:blipFill rotWithShape="1">
          <a:blip r:embed="rId3">
            <a:alphaModFix/>
          </a:blip>
          <a:srcRect b="2724" l="1849" r="2820" t="28641"/>
          <a:stretch/>
        </p:blipFill>
        <p:spPr>
          <a:xfrm>
            <a:off x="3101225" y="636550"/>
            <a:ext cx="5741099" cy="186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/>
          <p:nvPr>
            <p:ph type="title"/>
          </p:nvPr>
        </p:nvSpPr>
        <p:spPr>
          <a:xfrm>
            <a:off x="770150" y="834651"/>
            <a:ext cx="26142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it"/>
              <a:t>Implementation </a:t>
            </a:r>
            <a:endParaRPr/>
          </a:p>
        </p:txBody>
      </p:sp>
      <p:sp>
        <p:nvSpPr>
          <p:cNvPr id="87" name="Google Shape;87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88" name="Google Shape;88;p4"/>
          <p:cNvSpPr txBox="1"/>
          <p:nvPr>
            <p:ph idx="2" type="body"/>
          </p:nvPr>
        </p:nvSpPr>
        <p:spPr>
          <a:xfrm>
            <a:off x="5046350" y="453050"/>
            <a:ext cx="3374400" cy="11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it" sz="1100"/>
              <a:t>StructureNet Training</a:t>
            </a:r>
            <a:r>
              <a:rPr lang="it" sz="1100"/>
              <a:t>: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it" sz="1100"/>
              <a:t>Designed to map garment image from 2 distinct domain (In-the-Wild - Flat-Lay) into a shared embedding space.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it" sz="1100"/>
              <a:t>Trained using Contrastive Loss (InfoNCE) on a representative subset of 100 pairs. </a:t>
            </a:r>
            <a:endParaRPr sz="11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1200"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300"/>
              <a:buNone/>
            </a:pPr>
            <a:r>
              <a:t/>
            </a:r>
            <a:endParaRPr b="1" sz="1200"/>
          </a:p>
        </p:txBody>
      </p:sp>
      <p:pic>
        <p:nvPicPr>
          <p:cNvPr id="89" name="Google Shape;8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6025" y="1580950"/>
            <a:ext cx="2614200" cy="1212300"/>
          </a:xfrm>
          <a:prstGeom prst="roundRect">
            <a:avLst>
              <a:gd fmla="val 11702" name="adj"/>
            </a:avLst>
          </a:prstGeom>
          <a:noFill/>
          <a:ln>
            <a:noFill/>
          </a:ln>
        </p:spPr>
      </p:pic>
      <p:sp>
        <p:nvSpPr>
          <p:cNvPr id="90" name="Google Shape;90;p4"/>
          <p:cNvSpPr txBox="1"/>
          <p:nvPr/>
        </p:nvSpPr>
        <p:spPr>
          <a:xfrm>
            <a:off x="239950" y="1510450"/>
            <a:ext cx="1431900" cy="12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rPr>
              <a:t>Dataset VITON-HD</a:t>
            </a:r>
            <a:r>
              <a:rPr b="0" i="0" lang="it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rPr>
              <a:t>: ~13k high resolution images (1024x768).</a:t>
            </a:r>
            <a:endParaRPr b="0" i="0" sz="1100" u="none" cap="none" strike="noStrike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t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rPr>
              <a:t>Paired garment and in-the-wild images with associated garment masks</a:t>
            </a:r>
            <a:endParaRPr b="0" i="0" sz="1100" u="none" cap="none" strike="noStrike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472325" y="3042325"/>
            <a:ext cx="39279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rPr>
              <a:t>Retrieval database D </a:t>
            </a:r>
            <a:endParaRPr b="1" i="0" sz="1100" u="none" cap="none" strike="noStrike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●"/>
            </a:pPr>
            <a:r>
              <a:rPr b="0" i="0" lang="it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rPr>
              <a:t>Consists of pairs -&gt; (Standard embedding, Mask)</a:t>
            </a:r>
            <a:endParaRPr b="0" i="0" sz="1100" u="none" cap="none" strike="noStrike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●"/>
            </a:pPr>
            <a:r>
              <a:rPr b="0" i="0" lang="it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rPr>
              <a:t>Clustering: DBSCAN (Ɛ=0.4) to group structurally similar items, remove redundancy and outliers.</a:t>
            </a:r>
            <a:endParaRPr b="0" i="0" sz="1100" u="none" cap="none" strike="noStrike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●"/>
            </a:pPr>
            <a:r>
              <a:rPr b="0" i="0" lang="it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rPr>
              <a:t>Downsampling: Cluster-Aware Sampling (proportionally to the cluster size) to obtain a database of 2000 pairs.</a:t>
            </a:r>
            <a:endParaRPr b="0" i="0" sz="1100" u="none" cap="none" strike="noStrike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t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rPr>
              <a:t>This maintains the structural diversity while reducing retrieval latency and memory usage.</a:t>
            </a:r>
            <a:endParaRPr b="0" i="0" sz="1100" u="none" cap="none" strike="noStrike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92" name="Google Shape;9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5500" y="1643874"/>
            <a:ext cx="3353700" cy="8810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4"/>
          <p:cNvGrpSpPr/>
          <p:nvPr/>
        </p:nvGrpSpPr>
        <p:grpSpPr>
          <a:xfrm>
            <a:off x="4945250" y="2705086"/>
            <a:ext cx="3735221" cy="2049365"/>
            <a:chOff x="4813545" y="2871755"/>
            <a:chExt cx="3434055" cy="1884127"/>
          </a:xfrm>
        </p:grpSpPr>
        <p:sp>
          <p:nvSpPr>
            <p:cNvPr id="94" name="Google Shape;94;p4"/>
            <p:cNvSpPr txBox="1"/>
            <p:nvPr/>
          </p:nvSpPr>
          <p:spPr>
            <a:xfrm>
              <a:off x="7269300" y="3132119"/>
              <a:ext cx="9783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450" lIns="99450" spcFirstLastPara="1" rIns="99450" wrap="square" tIns="99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38"/>
                <a:buFont typeface="Arial"/>
                <a:buNone/>
              </a:pPr>
              <a:r>
                <a:rPr b="0" i="0" lang="it" sz="1038" u="none" cap="none" strike="noStrike">
                  <a:solidFill>
                    <a:schemeClr val="accent1"/>
                  </a:solidFill>
                  <a:latin typeface="Catamaran"/>
                  <a:ea typeface="Catamaran"/>
                  <a:cs typeface="Catamaran"/>
                  <a:sym typeface="Catamaran"/>
                </a:rPr>
                <a:t>Testing the performance on a retrieval task (given the in-the wild image return the k best match in the test set)</a:t>
              </a:r>
              <a:endParaRPr b="0" i="0" sz="1038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grpSp>
          <p:nvGrpSpPr>
            <p:cNvPr id="95" name="Google Shape;95;p4"/>
            <p:cNvGrpSpPr/>
            <p:nvPr/>
          </p:nvGrpSpPr>
          <p:grpSpPr>
            <a:xfrm>
              <a:off x="4813545" y="2871755"/>
              <a:ext cx="2459522" cy="1884127"/>
              <a:chOff x="3618700" y="3147950"/>
              <a:chExt cx="3022268" cy="2316075"/>
            </a:xfrm>
          </p:grpSpPr>
          <p:pic>
            <p:nvPicPr>
              <p:cNvPr id="96" name="Google Shape;96;p4" title="download (58).png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49919" t="0"/>
              <a:stretch/>
            </p:blipFill>
            <p:spPr>
              <a:xfrm>
                <a:off x="3618700" y="3147950"/>
                <a:ext cx="3009161" cy="1162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7" name="Google Shape;97;p4" title="download (59).png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49703" t="0"/>
              <a:stretch/>
            </p:blipFill>
            <p:spPr>
              <a:xfrm>
                <a:off x="3618700" y="4301825"/>
                <a:ext cx="3022268" cy="1162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98" name="Google Shape;98;p4"/>
          <p:cNvCxnSpPr/>
          <p:nvPr/>
        </p:nvCxnSpPr>
        <p:spPr>
          <a:xfrm>
            <a:off x="329650" y="2991625"/>
            <a:ext cx="392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 txBox="1"/>
          <p:nvPr>
            <p:ph type="title"/>
          </p:nvPr>
        </p:nvSpPr>
        <p:spPr>
          <a:xfrm>
            <a:off x="727650" y="861800"/>
            <a:ext cx="60750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it"/>
              <a:t>Implementation</a:t>
            </a:r>
            <a:endParaRPr/>
          </a:p>
        </p:txBody>
      </p:sp>
      <p:sp>
        <p:nvSpPr>
          <p:cNvPr id="104" name="Google Shape;104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5" name="Google Shape;105;p5"/>
          <p:cNvSpPr txBox="1"/>
          <p:nvPr>
            <p:ph idx="1" type="body"/>
          </p:nvPr>
        </p:nvSpPr>
        <p:spPr>
          <a:xfrm>
            <a:off x="308450" y="1503175"/>
            <a:ext cx="4533300" cy="14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it" sz="1100"/>
              <a:t>Hard constraint (Silhouette mask)</a:t>
            </a:r>
            <a:endParaRPr b="1"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it" sz="1100"/>
              <a:t>Silhouette retrieval: </a:t>
            </a:r>
            <a:r>
              <a:rPr lang="it" sz="1100"/>
              <a:t>replaced SLLE which produced blurry masks, with a Cohesion-based selection (choose the single candidate with highest average IoU overlap from the k retrieved neighbors</a:t>
            </a:r>
            <a:r>
              <a:rPr lang="it" sz="1100">
                <a:solidFill>
                  <a:srgbClr val="000000"/>
                </a:solidFill>
              </a:rPr>
              <a:t>)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it" sz="1100"/>
              <a:t>Injection:  </a:t>
            </a:r>
            <a:r>
              <a:rPr lang="it" sz="1100"/>
              <a:t>I integrated the pretrained ControlNet-Canny (SDXL 1.0) using the binary silhouette as strong edge map which the Canny model is expert at interpreting.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300"/>
              <a:buNone/>
            </a:pPr>
            <a:r>
              <a:t/>
            </a:r>
            <a:endParaRPr b="1" sz="1200"/>
          </a:p>
        </p:txBody>
      </p:sp>
      <p:sp>
        <p:nvSpPr>
          <p:cNvPr id="106" name="Google Shape;106;p5"/>
          <p:cNvSpPr txBox="1"/>
          <p:nvPr/>
        </p:nvSpPr>
        <p:spPr>
          <a:xfrm>
            <a:off x="5132800" y="2715100"/>
            <a:ext cx="3641700" cy="18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rPr>
              <a:t>Soft constraint (Structural embedding)</a:t>
            </a:r>
            <a:endParaRPr b="1" i="0" sz="1100" u="none" cap="none" strike="noStrike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●"/>
            </a:pPr>
            <a:r>
              <a:rPr b="0" i="0" lang="it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rPr>
              <a:t>The EP-Adapter first projects the embeddings into the dimensional space of the SDXL text encoder and then adds a parallel Cross-Attention layer in the U-Net for joint text-structure conditioning.</a:t>
            </a:r>
            <a:endParaRPr b="0" i="0" sz="1100" u="none" cap="none" strike="noStrike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●"/>
            </a:pPr>
            <a:r>
              <a:rPr b="0" i="0" lang="it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rPr>
              <a:t>Adapter weights remain untrained due to computational constraints.</a:t>
            </a:r>
            <a:endParaRPr b="0" i="0" sz="1100" u="none" cap="none" strike="noStrike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●"/>
            </a:pPr>
            <a:r>
              <a:rPr b="0" i="0" lang="it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rPr>
              <a:t>Generation quality is currently mainly driven by the geometric constraint (ControlNet) and semantic control (LLM).</a:t>
            </a:r>
            <a:endParaRPr b="0" i="0" sz="1200" u="none" cap="none" strike="noStrike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107" name="Google Shape;10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5850" y="1807775"/>
            <a:ext cx="3875601" cy="571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5"/>
          <p:cNvGrpSpPr/>
          <p:nvPr/>
        </p:nvGrpSpPr>
        <p:grpSpPr>
          <a:xfrm>
            <a:off x="1131632" y="2869182"/>
            <a:ext cx="2843531" cy="2120898"/>
            <a:chOff x="2577700" y="2130150"/>
            <a:chExt cx="2551625" cy="1903175"/>
          </a:xfrm>
        </p:grpSpPr>
        <p:pic>
          <p:nvPicPr>
            <p:cNvPr id="109" name="Google Shape;109;p5" title="download (60).png"/>
            <p:cNvPicPr preferRelativeResize="0"/>
            <p:nvPr/>
          </p:nvPicPr>
          <p:blipFill rotWithShape="1">
            <a:blip r:embed="rId4">
              <a:alphaModFix/>
            </a:blip>
            <a:srcRect b="0" l="47281" r="0" t="0"/>
            <a:stretch/>
          </p:blipFill>
          <p:spPr>
            <a:xfrm>
              <a:off x="4243450" y="2130150"/>
              <a:ext cx="885875" cy="1903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5" title="download (53).png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577700" y="2136225"/>
              <a:ext cx="1665749" cy="189105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>
            <p:ph type="title"/>
          </p:nvPr>
        </p:nvSpPr>
        <p:spPr>
          <a:xfrm>
            <a:off x="333850" y="869675"/>
            <a:ext cx="3300900" cy="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it"/>
              <a:t>Analysis and Visual results	</a:t>
            </a:r>
            <a:endParaRPr/>
          </a:p>
        </p:txBody>
      </p:sp>
      <p:sp>
        <p:nvSpPr>
          <p:cNvPr id="116" name="Google Shape;116;p6"/>
          <p:cNvSpPr txBox="1"/>
          <p:nvPr>
            <p:ph idx="1" type="subTitle"/>
          </p:nvPr>
        </p:nvSpPr>
        <p:spPr>
          <a:xfrm>
            <a:off x="333850" y="1867538"/>
            <a:ext cx="3456000" cy="12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it" sz="1100"/>
              <a:t>Due to significant computational constraints, large-scale quantitative benchmarking over thousands of samples was not feasible. Instead, this project focused on </a:t>
            </a:r>
            <a:r>
              <a:rPr b="1" lang="it" sz="1100"/>
              <a:t>component-level validation </a:t>
            </a:r>
            <a:r>
              <a:rPr lang="it" sz="1100"/>
              <a:t>and </a:t>
            </a:r>
            <a:r>
              <a:rPr b="1" lang="it" sz="1100"/>
              <a:t>perceptual faithfulness</a:t>
            </a:r>
            <a:r>
              <a:rPr lang="it" sz="1100"/>
              <a:t>, providing insight on the effectiveness of the proposed multi-level conditioning.</a:t>
            </a:r>
            <a:endParaRPr sz="1100"/>
          </a:p>
        </p:txBody>
      </p:sp>
      <p:sp>
        <p:nvSpPr>
          <p:cNvPr id="117" name="Google Shape;117;p6"/>
          <p:cNvSpPr txBox="1"/>
          <p:nvPr>
            <p:ph idx="2" type="body"/>
          </p:nvPr>
        </p:nvSpPr>
        <p:spPr>
          <a:xfrm>
            <a:off x="4572000" y="3542900"/>
            <a:ext cx="4341900" cy="11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it" sz="1100"/>
              <a:t>Observations</a:t>
            </a:r>
            <a:r>
              <a:rPr lang="it" sz="1100"/>
              <a:t>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it" sz="1100"/>
              <a:t>Large logos and macro structures are quite preserved while fine textures and small, repetitive details aren’t well reproduced.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it" sz="1100"/>
              <a:t>The pipeline functions correctly end-to-end, but the overall fidelity remains limited by computational constraints. .</a:t>
            </a:r>
            <a:endParaRPr sz="1100"/>
          </a:p>
        </p:txBody>
      </p:sp>
      <p:sp>
        <p:nvSpPr>
          <p:cNvPr id="118" name="Google Shape;118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19" name="Google Shape;119;p6"/>
          <p:cNvSpPr txBox="1"/>
          <p:nvPr/>
        </p:nvSpPr>
        <p:spPr>
          <a:xfrm>
            <a:off x="264050" y="3178600"/>
            <a:ext cx="3245100" cy="13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●"/>
            </a:pPr>
            <a:r>
              <a:rPr b="1" i="0" lang="it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rPr>
              <a:t>Perceptual Faithfulness</a:t>
            </a:r>
            <a:r>
              <a:rPr b="0" i="0" lang="it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rPr>
              <a:t>: computed Learned Perceptual Image Patch Similarity (LPIPS), which measures the perceptual distance between generated output and ground truth, across a test set of 12 samples, achieving a Mean LPIPS of 0.706 (Lower is better).</a:t>
            </a:r>
            <a:endParaRPr b="0" i="0" sz="1100" u="none" cap="none" strike="noStrike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grpSp>
        <p:nvGrpSpPr>
          <p:cNvPr id="120" name="Google Shape;120;p6"/>
          <p:cNvGrpSpPr/>
          <p:nvPr/>
        </p:nvGrpSpPr>
        <p:grpSpPr>
          <a:xfrm>
            <a:off x="4069675" y="748475"/>
            <a:ext cx="4844226" cy="2546275"/>
            <a:chOff x="4065050" y="372650"/>
            <a:chExt cx="4844226" cy="2546275"/>
          </a:xfrm>
        </p:grpSpPr>
        <p:pic>
          <p:nvPicPr>
            <p:cNvPr id="121" name="Google Shape;121;p6" title="download (63)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487167" y="372650"/>
              <a:ext cx="2421428" cy="1272722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22" name="Google Shape;122;p6" title="download (65)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65050" y="372650"/>
              <a:ext cx="2421428" cy="1272722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23" name="Google Shape;123;p6" title="download (62).png"/>
            <p:cNvPicPr preferRelativeResize="0"/>
            <p:nvPr/>
          </p:nvPicPr>
          <p:blipFill rotWithShape="1">
            <a:blip r:embed="rId5">
              <a:alphaModFix/>
            </a:blip>
            <a:srcRect b="-2417" l="0" r="1165" t="0"/>
            <a:stretch/>
          </p:blipFill>
          <p:spPr>
            <a:xfrm>
              <a:off x="6486475" y="1644525"/>
              <a:ext cx="2422801" cy="12744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24" name="Google Shape;124;p6" title="download (64).png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065050" y="1645377"/>
              <a:ext cx="2421428" cy="1272717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it"/>
              <a:t>Conclusion</a:t>
            </a:r>
            <a:endParaRPr/>
          </a:p>
        </p:txBody>
      </p:sp>
      <p:sp>
        <p:nvSpPr>
          <p:cNvPr id="130" name="Google Shape;130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4953700" y="1967975"/>
            <a:ext cx="3582600" cy="21138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rgbClr val="0067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tamaran"/>
              <a:buChar char="●"/>
            </a:pPr>
            <a:r>
              <a:rPr b="1" i="0" lang="it" sz="12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rPr>
              <a:t>Train EP-Adapter:</a:t>
            </a:r>
            <a:r>
              <a:rPr b="0" i="0" lang="it" sz="12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rPr>
              <a:t> Unfreeze weights to enable texture transfer from StructureNet.</a:t>
            </a:r>
            <a:endParaRPr b="0" i="0" sz="1200" u="none" cap="none" strike="noStrike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tamaran"/>
              <a:buChar char="●"/>
            </a:pPr>
            <a:r>
              <a:rPr b="1" i="0" lang="it" sz="12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rPr>
              <a:t>Implement Decoding Faithfulness: </a:t>
            </a:r>
            <a:r>
              <a:rPr b="0" i="0" lang="it" sz="12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rPr>
              <a:t>Replace the standard SDXL VAE (which suffers from high compression artifacts) with the 16-channel FLUX VAE and align the 16-channel VAE latent space with the 4-channel SDXL U-Net.</a:t>
            </a:r>
            <a:endParaRPr b="0" i="0" sz="1200" u="none" cap="none" strike="noStrike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tamaran"/>
              <a:buChar char="●"/>
            </a:pPr>
            <a:r>
              <a:rPr b="1" i="0" lang="it" sz="12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rPr>
              <a:t>Expand Dataset Diversity:</a:t>
            </a:r>
            <a:r>
              <a:rPr b="0" i="0" lang="it" sz="12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rPr>
              <a:t> to improve generalization beyond human-worn inputs.</a:t>
            </a:r>
            <a:endParaRPr b="0" i="0" sz="1200" u="none" cap="none" strike="noStrike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443800" y="1594175"/>
            <a:ext cx="2316000" cy="373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67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rPr>
              <a:t>Future Work</a:t>
            </a:r>
            <a:endParaRPr b="0" i="0" sz="1300" u="none" cap="none" strike="noStrike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727650" y="2030012"/>
            <a:ext cx="3202500" cy="1989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rPr>
              <a:t>The primary objective of this project was not to achieve state of the art performance, but to understand the mechanisms of Retrieval-Augmented Generation (RAG) within the context of diffusion-based image synthesis.</a:t>
            </a:r>
            <a:endParaRPr b="0" i="0" sz="1300" u="none" cap="none" strike="noStrike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rPr>
              <a:t>I successfully validated the multi-level conditioning pipeline, understanding how external knowledge (Retrieval) can effectively mitigate structural hallucinations.</a:t>
            </a:r>
            <a:endParaRPr b="0" i="0" sz="1300" u="none" cap="none" strike="noStrike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it"/>
              <a:t>References</a:t>
            </a:r>
            <a:endParaRPr/>
          </a:p>
        </p:txBody>
      </p:sp>
      <p:sp>
        <p:nvSpPr>
          <p:cNvPr id="139" name="Google Shape;139;p8"/>
          <p:cNvSpPr txBox="1"/>
          <p:nvPr>
            <p:ph idx="1" type="body"/>
          </p:nvPr>
        </p:nvSpPr>
        <p:spPr>
          <a:xfrm>
            <a:off x="619050" y="1397000"/>
            <a:ext cx="7905900" cy="3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it" sz="1100"/>
              <a:t>Papers:</a:t>
            </a:r>
            <a:endParaRPr b="1" sz="1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it" sz="1000"/>
              <a:t>[1] Yuhan Li, Xianfeng Tan, Wenxiang Shang, Yubo Wu, Jian Wang, Xuanhong Chen, Yi Zhang, Ran Lin, Bingbing Ni. (2025). </a:t>
            </a:r>
            <a:r>
              <a:rPr b="1" lang="it" sz="1000"/>
              <a:t>RAG-Diffusion: Faithful Cloth Generation via External Knowledge Assimilation</a:t>
            </a:r>
            <a:r>
              <a:rPr lang="it" sz="1000"/>
              <a:t>. arXiv preprint arXiv:2411.19528v2. (Primary architectural framework).</a:t>
            </a:r>
            <a:endParaRPr sz="1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it" sz="1000"/>
              <a:t>[2] Dustin Podell, Zion English, Kyle Lacey, Andreas Blattmann, Tim Dockhorn, Jonas M¨uller, Joe Penna, and Robin Rombach. (2023). </a:t>
            </a:r>
            <a:r>
              <a:rPr b="1" lang="it" sz="1000"/>
              <a:t>SDXL: Improving Latent Diffusion Models for High-Resolution Image Synthesis</a:t>
            </a:r>
            <a:r>
              <a:rPr lang="it" sz="1000"/>
              <a:t>. arXiv preprint arXiv:2307.01952. (Backbone generative model).</a:t>
            </a:r>
            <a:endParaRPr sz="1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it" sz="1000"/>
              <a:t>[3] Jinze Bai, Shuai Bai, Shusheng Yang, Shijie Wang, Sinan Tan, Peng Wang, Junyang Lin, Chang Zhou, and Jingren Zhou. (2023).</a:t>
            </a:r>
            <a:r>
              <a:rPr b="1" lang="it" sz="1000"/>
              <a:t> Qwen-VL: A Versatile Vision-Language Model for Understanding, Localization, Text Reading, and Beyond</a:t>
            </a:r>
            <a:r>
              <a:rPr lang="it" sz="1000"/>
              <a:t>. arXiv preprint arXiv:2308.12966. (Used for semantic attribute extraction and prompt generation).</a:t>
            </a:r>
            <a:endParaRPr sz="1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it" sz="1000"/>
              <a:t>[4] Hu Ye, Jun Zhang, Sibo Liu, Xiao Han, Wei Yang. (2023). I</a:t>
            </a:r>
            <a:r>
              <a:rPr b="1" lang="it" sz="1000"/>
              <a:t>P-Adapter: Text Compatible Image Prompt Adapter for Text-to-Image Diffusion Models</a:t>
            </a:r>
            <a:r>
              <a:rPr lang="it" sz="1000"/>
              <a:t>. arXiv preprint arXiv:2308.06721. (Source for the Perceiver Resampler and the architectural basis of the EP-Adapter).</a:t>
            </a:r>
            <a:endParaRPr sz="1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it" sz="1000"/>
              <a:t>[5] Li Hu, Xin Gao, Peng Zhang, Ke Sun, Bang Zhang, and Liefeng Bo. (2023). </a:t>
            </a:r>
            <a:r>
              <a:rPr b="1" lang="it" sz="1000"/>
              <a:t>Animate anyone: Consistent and controllable image-to-video synthesis for character animation. </a:t>
            </a:r>
            <a:r>
              <a:rPr lang="it" sz="1000"/>
              <a:t>arXiv preprint arXiv:2311.17117. (Methodological source for ReferenceNet and spatial feature injection).</a:t>
            </a:r>
            <a:endParaRPr sz="1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it" sz="1000"/>
              <a:t>[6] Seunghwan Choi, Sunghyun Park, Minsoo Lee, Jaegul Choo. (2021). </a:t>
            </a:r>
            <a:r>
              <a:rPr b="1" lang="it" sz="1000"/>
              <a:t>VITON-HD: High-Resolution Virtual Try-On via Misalignment-Aware Normalization</a:t>
            </a:r>
            <a:r>
              <a:rPr lang="it" sz="1000"/>
              <a:t>. arXiv preprint arXiv:2103.16874. (Dataset source via Kaggle).</a:t>
            </a:r>
            <a:endParaRPr sz="1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0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it" sz="1100"/>
              <a:t>Slides: </a:t>
            </a:r>
            <a:endParaRPr b="1" sz="1100"/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it" sz="1000" u="sng">
                <a:solidFill>
                  <a:schemeClr val="hlink"/>
                </a:solidFill>
                <a:hlinkClick r:id="rId3"/>
              </a:rPr>
              <a:t>https://github.com/pietro-nardelli/sapienza-ppt-template</a:t>
            </a:r>
            <a:r>
              <a:rPr lang="it" sz="1000"/>
              <a:t> </a:t>
            </a:r>
            <a:br>
              <a:rPr lang="it" sz="1000"/>
            </a:br>
            <a:r>
              <a:rPr i="1" lang="it" sz="1000"/>
              <a:t>[Attribution-NonCommercial-ShareAlike 4.0 International (CC BY-NC-SA 4.0)]</a:t>
            </a:r>
            <a:endParaRPr i="1" sz="1000"/>
          </a:p>
        </p:txBody>
      </p:sp>
      <p:sp>
        <p:nvSpPr>
          <p:cNvPr id="140" name="Google Shape;14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type="ctrTitle"/>
          </p:nvPr>
        </p:nvSpPr>
        <p:spPr>
          <a:xfrm>
            <a:off x="729450" y="1322450"/>
            <a:ext cx="7688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/>
              <a:t>Thank you for the attention!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